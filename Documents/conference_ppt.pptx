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82" r:id="rId4"/>
    <p:sldId id="264" r:id="rId5"/>
    <p:sldId id="265" r:id="rId6"/>
    <p:sldId id="266" r:id="rId7"/>
    <p:sldId id="267" r:id="rId8"/>
    <p:sldId id="269" r:id="rId9"/>
    <p:sldId id="274" r:id="rId10"/>
    <p:sldId id="283" r:id="rId11"/>
    <p:sldId id="285" r:id="rId12"/>
    <p:sldId id="284" r:id="rId13"/>
    <p:sldId id="268" r:id="rId14"/>
    <p:sldId id="273" r:id="rId15"/>
    <p:sldId id="275" r:id="rId16"/>
    <p:sldId id="270" r:id="rId17"/>
    <p:sldId id="271" r:id="rId18"/>
    <p:sldId id="279" r:id="rId19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4" y="5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309676800 w 120000"/>
              <a:gd name="T3" fmla="*/ 0 h 120000"/>
              <a:gd name="T4" fmla="*/ 3096768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9754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5123" name="Google Shape;52;p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771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72;g11dd67e4119_0_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7171" name="Google Shape;73;g11dd67e4119_0_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730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72;g11dd67e4119_0_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9219" name="Google Shape;73;g11dd67e4119_0_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71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33E03D-5646-4BB9-97EE-65AF4918EB13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5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E5720C-F6B3-4220-87B0-0FA00A726951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66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C3B025-31CE-43C1-9ED7-9711BE3F2086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860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1ADA63-1004-46E3-BC33-27A5F3596B8F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48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876481-AA54-4534-97AB-338AC751B4BC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10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CD541A-65B2-46BB-9309-23148CB2B450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815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6;p9"/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" name="Google Shape;40;p9"/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39B45A5-868B-4945-A013-D3E243657ABE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588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C0D8C4-325E-4810-862B-17092DE1D57B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0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D6302A-3273-42D5-8E56-869DEC348833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97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001BCF-65BC-4C3F-8892-2BB36CB895CD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781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panose="020B0604020202020204" pitchFamily="34" charset="0"/>
            </a:endParaRPr>
          </a:p>
        </p:txBody>
      </p:sp>
      <p:sp>
        <p:nvSpPr>
          <p:cNvPr id="102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panose="020B0604020202020204" pitchFamily="34" charset="0"/>
            </a:endParaRPr>
          </a:p>
        </p:txBody>
      </p:sp>
      <p:sp>
        <p:nvSpPr>
          <p:cNvPr id="102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000">
                <a:solidFill>
                  <a:srgbClr val="595959"/>
                </a:solidFill>
              </a:defRPr>
            </a:lvl1pPr>
          </a:lstStyle>
          <a:p>
            <a:fld id="{EFAA32E4-3511-4E81-81BF-24CAFA322D50}" type="slidenum">
              <a:rPr lang="en-GB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9" r:id="rId7"/>
    <p:sldLayoutId id="2147483716" r:id="rId8"/>
    <p:sldLayoutId id="2147483717" r:id="rId9"/>
    <p:sldLayoutId id="214748371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https://aiccit2023.vercel.app/_next/image?url=/_next/static/media/mrlogo1.084c9a07.png&amp;w=640&amp;q=75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https://aiccit2023.vercel.app/_next/image?url=/_next/static/media/mrlogo1.084c9a07.png&amp;w=640&amp;q=7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https://aiccit2023.vercel.app/_next/image?url=/_next/static/media/mrlogo1.084c9a07.png&amp;w=640&amp;q=7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Google Shape;55;p1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13" y="1470025"/>
            <a:ext cx="2343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Google Shape;56;p13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454778"/>
            <a:ext cx="2208212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Google Shape;60;p13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444625"/>
            <a:ext cx="2452688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Google Shape;62;p13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3646488"/>
            <a:ext cx="2206625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Google Shape;63;p13"/>
          <p:cNvSpPr txBox="1">
            <a:spLocks noChangeArrowheads="1"/>
          </p:cNvSpPr>
          <p:nvPr/>
        </p:nvSpPr>
        <p:spPr bwMode="auto">
          <a:xfrm>
            <a:off x="666750" y="94622"/>
            <a:ext cx="71755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IN" altLang="en-US" b="1" dirty="0"/>
              <a:t>ICAICCIT-2025, 3</a:t>
            </a:r>
            <a:r>
              <a:rPr lang="en-IN" altLang="en-US" b="1" baseline="30000" dirty="0"/>
              <a:t>rd</a:t>
            </a:r>
            <a:r>
              <a:rPr lang="en-IN" altLang="en-US" b="1" dirty="0"/>
              <a:t> International conference on Advances in Computing, Communication and Information Technology,                                                                technically Co-Sponsored by IEEE Delhi SECTION                                                                (IEEE record no # 68829) 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IN" altLang="en-US" b="1" dirty="0"/>
              <a:t>on 31</a:t>
            </a:r>
            <a:r>
              <a:rPr lang="en-IN" altLang="en-US" b="1" baseline="30000" dirty="0"/>
              <a:t>st</a:t>
            </a:r>
            <a:r>
              <a:rPr lang="en-IN" altLang="en-US" b="1" dirty="0"/>
              <a:t> Oct &amp; 1st Nov. 2025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1600" dirty="0"/>
          </a:p>
        </p:txBody>
      </p:sp>
      <p:pic>
        <p:nvPicPr>
          <p:cNvPr id="4103" name="Google Shape;65;p13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3667125"/>
            <a:ext cx="233997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Google Shape;66;p13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67" name="Google Shape;67;p13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4106" name="Rectangle 2"/>
          <p:cNvSpPr>
            <a:spLocks noChangeArrowheads="1"/>
          </p:cNvSpPr>
          <p:nvPr/>
        </p:nvSpPr>
        <p:spPr bwMode="auto">
          <a:xfrm>
            <a:off x="0" y="0"/>
            <a:ext cx="914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4107" name="Rectangle 3"/>
          <p:cNvSpPr>
            <a:spLocks noChangeArrowheads="1"/>
          </p:cNvSpPr>
          <p:nvPr/>
        </p:nvSpPr>
        <p:spPr bwMode="auto">
          <a:xfrm>
            <a:off x="0" y="7493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4108" name="Picture 2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1160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2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34" t="69373" r="41730" b="23227"/>
          <a:stretch>
            <a:fillRect/>
          </a:stretch>
        </p:blipFill>
        <p:spPr bwMode="auto">
          <a:xfrm>
            <a:off x="287338" y="2544763"/>
            <a:ext cx="1331912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0" name="Picture 2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6" t="69836" r="29318" b="23227"/>
          <a:stretch>
            <a:fillRect/>
          </a:stretch>
        </p:blipFill>
        <p:spPr bwMode="auto">
          <a:xfrm>
            <a:off x="1722438" y="2674938"/>
            <a:ext cx="12065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2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33" t="70760" r="52966" b="23227"/>
          <a:stretch>
            <a:fillRect/>
          </a:stretch>
        </p:blipFill>
        <p:spPr bwMode="auto">
          <a:xfrm>
            <a:off x="7586663" y="2705100"/>
            <a:ext cx="155733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2" descr="mr_logo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2695575"/>
            <a:ext cx="23844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3" name="Picture 4" descr="https://aiccit2023.vercel.app/images/partners/infosis1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2767013"/>
            <a:ext cx="1905000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4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5" y="3646488"/>
            <a:ext cx="2581275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5" name="Picture 20" descr="mr_logo"/>
          <p:cNvPicPr>
            <a:picLocks noChangeAspect="1" noChangeArrowheads="1"/>
          </p:cNvPicPr>
          <p:nvPr/>
        </p:nvPicPr>
        <p:blipFill>
          <a:blip r:embed="rId13" r:link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5" y="79375"/>
            <a:ext cx="1871663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76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cxnSp>
        <p:nvCxnSpPr>
          <p:cNvPr id="6148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49" name="AutoShape 2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6150" name="AutoShape 4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615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Box 15"/>
          <p:cNvSpPr txBox="1">
            <a:spLocks noChangeArrowheads="1"/>
          </p:cNvSpPr>
          <p:nvPr/>
        </p:nvSpPr>
        <p:spPr bwMode="auto">
          <a:xfrm>
            <a:off x="402956" y="1030637"/>
            <a:ext cx="809316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None/>
            </a:pPr>
            <a:r>
              <a:rPr lang="en-US" sz="1800" b="1" dirty="0" smtClean="0"/>
              <a:t>A Transformer-Based Framework for Domain-Sensitive Amharic-English Neural </a:t>
            </a:r>
            <a:r>
              <a:rPr lang="en-US" sz="1800" b="1" dirty="0"/>
              <a:t>Machine Translation with </a:t>
            </a:r>
            <a:r>
              <a:rPr lang="en-US" sz="1800" b="1" dirty="0" smtClean="0"/>
              <a:t>Character-Aware </a:t>
            </a:r>
            <a:r>
              <a:rPr lang="en-US" sz="1800" b="1" dirty="0" err="1" smtClean="0"/>
              <a:t>Subword</a:t>
            </a:r>
            <a:r>
              <a:rPr lang="en-US" sz="1800" b="1" dirty="0" smtClean="0"/>
              <a:t> Encoding</a:t>
            </a:r>
          </a:p>
          <a:p>
            <a:pPr eaLnBrk="1" hangingPunct="1">
              <a:buNone/>
            </a:pPr>
            <a:r>
              <a:rPr lang="en-US" sz="1800" b="1" dirty="0"/>
              <a:t> </a:t>
            </a:r>
            <a:r>
              <a:rPr lang="en-US" sz="1800" b="1" dirty="0" smtClean="0"/>
              <a:t>                                       Paper-ID -00477</a:t>
            </a:r>
            <a:endParaRPr lang="en-US" sz="1800" b="1" dirty="0"/>
          </a:p>
          <a:p>
            <a:pPr eaLnBrk="1" hangingPunct="1">
              <a:buNone/>
            </a:pPr>
            <a:endParaRPr lang="en-US" sz="1800" b="1" dirty="0" smtClean="0"/>
          </a:p>
          <a:p>
            <a:pPr algn="ctr" eaLnBrk="1" hangingPunct="1">
              <a:buNone/>
            </a:pPr>
            <a:endParaRPr lang="en-US" sz="1800" b="1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IN" altLang="en-US" sz="1600" dirty="0" smtClean="0"/>
              <a:t>                                                                                    </a:t>
            </a:r>
            <a:endParaRPr lang="en-IN" altLang="en-US" sz="1600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 smtClean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 smtClean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IN" altLang="en-US" sz="1600" b="1" dirty="0" smtClean="0"/>
              <a:t>Presented  BY</a:t>
            </a:r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IN" altLang="en-US" sz="1600" b="1" dirty="0" err="1" smtClean="0"/>
              <a:t>Mallela</a:t>
            </a:r>
            <a:r>
              <a:rPr lang="en-IN" altLang="en-US" sz="1600" b="1" dirty="0" smtClean="0"/>
              <a:t> </a:t>
            </a:r>
            <a:r>
              <a:rPr lang="en-IN" altLang="en-US" sz="1600" b="1" dirty="0" err="1" smtClean="0"/>
              <a:t>Sai</a:t>
            </a:r>
            <a:r>
              <a:rPr lang="en-IN" altLang="en-US" sz="1600" b="1" dirty="0" smtClean="0"/>
              <a:t> </a:t>
            </a:r>
            <a:r>
              <a:rPr lang="en-IN" altLang="en-US" sz="1600" b="1" dirty="0" err="1" smtClean="0"/>
              <a:t>Jyothi</a:t>
            </a:r>
            <a:endParaRPr lang="en-IN" altLang="en-US" sz="1600" b="1" dirty="0" smtClean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IN" altLang="en-US" sz="1600" b="1" dirty="0" smtClean="0"/>
              <a:t>y </a:t>
            </a:r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IN" altLang="en-US" b="1" dirty="0" smtClean="0"/>
              <a:t>Rajeswari Makkena</a:t>
            </a:r>
          </a:p>
        </p:txBody>
      </p:sp>
      <p:pic>
        <p:nvPicPr>
          <p:cNvPr id="6153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466454"/>
            <a:ext cx="91440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2" descr="mr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586" y="212725"/>
            <a:ext cx="2130425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813777" y="1840269"/>
            <a:ext cx="4325293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IN" altLang="en-US" b="1" dirty="0"/>
              <a:t>Authors Name &amp; </a:t>
            </a:r>
            <a:r>
              <a:rPr lang="en-IN" altLang="en-US" b="1" dirty="0" smtClean="0"/>
              <a:t>Affiliation</a:t>
            </a:r>
          </a:p>
          <a:p>
            <a:pPr eaLnBrk="1" hangingPunct="1">
              <a:buNone/>
            </a:pPr>
            <a:r>
              <a:rPr lang="en-US" sz="1300" b="1" dirty="0" smtClean="0"/>
              <a:t>Syed </a:t>
            </a:r>
            <a:r>
              <a:rPr lang="en-US" sz="1300" b="1" dirty="0" err="1" smtClean="0"/>
              <a:t>Rizwana</a:t>
            </a:r>
            <a:endParaRPr lang="en-US" sz="1300" b="1" dirty="0" smtClean="0"/>
          </a:p>
          <a:p>
            <a:pPr eaLnBrk="1" hangingPunct="1">
              <a:buNone/>
            </a:pPr>
            <a:r>
              <a:rPr lang="en-US" sz="1200" dirty="0" smtClean="0"/>
              <a:t>Dept. Of Computer Science and Engineering, NEC</a:t>
            </a:r>
          </a:p>
          <a:p>
            <a:pPr eaLnBrk="1" hangingPunct="1">
              <a:buNone/>
            </a:pPr>
            <a:r>
              <a:rPr lang="en-US" sz="1300" b="1" dirty="0" err="1" smtClean="0"/>
              <a:t>Mallela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Sai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Jyothi</a:t>
            </a:r>
            <a:endParaRPr lang="en-US" sz="1300" b="1" dirty="0" smtClean="0"/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NEC</a:t>
            </a:r>
            <a:endParaRPr lang="en-US" sz="1200" dirty="0"/>
          </a:p>
          <a:p>
            <a:pPr eaLnBrk="1" hangingPunct="1">
              <a:buNone/>
            </a:pPr>
            <a:r>
              <a:rPr lang="en-US" sz="1300" b="1" dirty="0" err="1" smtClean="0"/>
              <a:t>Duddu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Divya</a:t>
            </a:r>
            <a:endParaRPr lang="en-US" sz="1300" b="1" dirty="0" smtClean="0"/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NEC</a:t>
            </a:r>
          </a:p>
          <a:p>
            <a:pPr eaLnBrk="1" hangingPunct="1">
              <a:buNone/>
            </a:pPr>
            <a:r>
              <a:rPr lang="en-US" sz="1300" b="1" dirty="0" err="1" smtClean="0"/>
              <a:t>Dasari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Srujana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Sankeerthi</a:t>
            </a:r>
            <a:endParaRPr lang="en-US" sz="1300" b="1" dirty="0" smtClean="0"/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NEC</a:t>
            </a:r>
          </a:p>
          <a:p>
            <a:pPr eaLnBrk="1" hangingPunct="1">
              <a:buNone/>
            </a:pPr>
            <a:r>
              <a:rPr lang="en-US" sz="1300" b="1" dirty="0" err="1" smtClean="0"/>
              <a:t>V.Lakshmi</a:t>
            </a:r>
            <a:endParaRPr lang="en-US" sz="1300" b="1" dirty="0"/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GRIET</a:t>
            </a:r>
          </a:p>
          <a:p>
            <a:pPr eaLnBrk="1" hangingPunct="1">
              <a:buNone/>
            </a:pPr>
            <a:r>
              <a:rPr lang="en-US" sz="1300" b="1" dirty="0" err="1" smtClean="0"/>
              <a:t>Yerraparu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Sravani</a:t>
            </a:r>
            <a:r>
              <a:rPr lang="en-US" sz="1300" b="1" dirty="0" smtClean="0"/>
              <a:t> Devi</a:t>
            </a:r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GNITS</a:t>
            </a:r>
            <a:endParaRPr lang="en-US" sz="1200" b="1" dirty="0" smtClean="0"/>
          </a:p>
          <a:p>
            <a:pPr eaLnBrk="1" hangingPunct="1">
              <a:buNone/>
            </a:pPr>
            <a:endParaRPr lang="en-US" b="1" dirty="0"/>
          </a:p>
          <a:p>
            <a:pPr eaLnBrk="1" hangingPunct="1">
              <a:buNone/>
            </a:pPr>
            <a:endParaRPr lang="en-US" altLang="en-US" b="1" dirty="0"/>
          </a:p>
        </p:txBody>
      </p:sp>
      <p:pic>
        <p:nvPicPr>
          <p:cNvPr id="6156" name="Picture 20" descr="mr_logo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76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cxnSp>
        <p:nvCxnSpPr>
          <p:cNvPr id="8196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7" name="AutoShape 2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198" name="AutoShape 4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819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767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1" name="Rectangle 11"/>
          <p:cNvSpPr>
            <a:spLocks noChangeArrowheads="1"/>
          </p:cNvSpPr>
          <p:nvPr/>
        </p:nvSpPr>
        <p:spPr bwMode="auto">
          <a:xfrm>
            <a:off x="465138" y="1541463"/>
            <a:ext cx="639286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Introduction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Problem Statements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Objectives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Literature Review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Methodology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Result &amp; Discussion 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Conclusion &amp; Future Scope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References</a:t>
            </a:r>
          </a:p>
        </p:txBody>
      </p:sp>
      <p:sp>
        <p:nvSpPr>
          <p:cNvPr id="8202" name="TextBox 12"/>
          <p:cNvSpPr txBox="1">
            <a:spLocks noChangeArrowheads="1"/>
          </p:cNvSpPr>
          <p:nvPr/>
        </p:nvSpPr>
        <p:spPr bwMode="auto">
          <a:xfrm>
            <a:off x="460375" y="1123950"/>
            <a:ext cx="4870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IN" altLang="en-US" sz="2000" dirty="0" smtClean="0"/>
              <a:t>  Contents</a:t>
            </a:r>
            <a:endParaRPr lang="en-US" altLang="en-US" sz="2000" dirty="0"/>
          </a:p>
        </p:txBody>
      </p:sp>
      <p:pic>
        <p:nvPicPr>
          <p:cNvPr id="8203" name="Picture 2" descr="mr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Picture 20" descr="mr_logo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146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6900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1700" y="1080645"/>
            <a:ext cx="8520600" cy="562195"/>
          </a:xfrm>
          <a:solidFill>
            <a:schemeClr val="bg1"/>
          </a:solidFill>
          <a:ln>
            <a:noFill/>
          </a:ln>
        </p:spPr>
        <p:txBody>
          <a:bodyPr>
            <a:normAutofit fontScale="90000"/>
          </a:bodyPr>
          <a:lstStyle/>
          <a:p>
            <a:pPr marL="342900" lvl="1" indent="-342900">
              <a:buFont typeface="Wingdings" panose="05000000000000000000" pitchFamily="2" charset="2"/>
              <a:buChar char="v"/>
            </a:pPr>
            <a:r>
              <a:rPr lang="en-IN" altLang="en-US" sz="2000" dirty="0" smtClean="0"/>
              <a:t> </a:t>
            </a:r>
            <a:r>
              <a:rPr lang="en-IN" altLang="en-US" sz="2700" dirty="0" smtClean="0"/>
              <a:t>Introduction</a:t>
            </a:r>
            <a:r>
              <a:rPr lang="en-US" altLang="en-US" sz="2700" dirty="0"/>
              <a:t/>
            </a:r>
            <a:br>
              <a:rPr lang="en-US" altLang="en-US" sz="2700" dirty="0"/>
            </a:br>
            <a:endParaRPr lang="en-US" sz="2700" dirty="0">
              <a:solidFill>
                <a:srgbClr val="FF0000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1700" y="1875191"/>
            <a:ext cx="8520600" cy="2325555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Neural Machine Translation (NMT) has transformed language translation through data-driven deep learning approaches</a:t>
            </a:r>
            <a:r>
              <a:rPr lang="en-US" sz="1600" dirty="0" smtClean="0">
                <a:latin typeface="+mn-lt"/>
                <a:cs typeface="Times New Roman" panose="02020603050405020304" pitchFamily="18" charset="0"/>
              </a:rPr>
              <a:t>.</a:t>
            </a: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The Transformer model introduced by </a:t>
            </a:r>
            <a:r>
              <a:rPr lang="en-US" sz="1600" dirty="0" err="1">
                <a:latin typeface="+mn-lt"/>
                <a:cs typeface="Times New Roman" panose="02020603050405020304" pitchFamily="18" charset="0"/>
              </a:rPr>
              <a:t>Vaswani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 et al. (2017) replaced recurrence with attention, improving efficiency and scalability.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Amharic, a Semitic language, presents challenges due to rich morphology and limited bilingual data.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This project aims to address these issues through a domain-sensitive, character-aware Transformer architecture</a:t>
            </a:r>
            <a:r>
              <a:rPr lang="en-US" sz="1600" dirty="0">
                <a:latin typeface="+mn-lt"/>
              </a:rPr>
              <a:t>.</a:t>
            </a:r>
          </a:p>
        </p:txBody>
      </p:sp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433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973388"/>
            <a:ext cx="8520600" cy="5727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</a:rPr>
              <a:t>Problem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Statement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226460" y="1918544"/>
            <a:ext cx="8520600" cy="3120181"/>
          </a:xfrm>
        </p:spPr>
        <p:txBody>
          <a:bodyPr>
            <a:normAutofit fontScale="92500" lnSpcReduction="20000"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700" dirty="0" smtClean="0"/>
              <a:t>Lack </a:t>
            </a:r>
            <a:r>
              <a:rPr lang="en-US" sz="1700" dirty="0"/>
              <a:t>of high-quality Amharic–English parallel datasets</a:t>
            </a:r>
            <a:r>
              <a:rPr lang="en-US" sz="1700" dirty="0" smtClean="0"/>
              <a:t>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700" dirty="0" smtClean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700" dirty="0"/>
              <a:t>Morphological complexity and agglutination lead to high out-of-vocabulary (OOV) rates</a:t>
            </a:r>
            <a:r>
              <a:rPr lang="en-US" sz="1700" dirty="0" smtClean="0"/>
              <a:t>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700" dirty="0" smtClean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700" dirty="0" smtClean="0"/>
              <a:t>General-purpose </a:t>
            </a:r>
            <a:r>
              <a:rPr lang="en-US" sz="1700" dirty="0"/>
              <a:t>translators perform poorly on domain-specific texts such as religious literature</a:t>
            </a:r>
            <a:r>
              <a:rPr lang="en-US" sz="1700" dirty="0" smtClean="0"/>
              <a:t>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700" dirty="0" smtClean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700" dirty="0"/>
              <a:t>Need for a low-resource, domain-sensitive translation system that preserves semantics and fluency.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700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500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500" dirty="0" smtClean="0"/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500" dirty="0"/>
          </a:p>
          <a:p>
            <a:pPr marL="114300" indent="0">
              <a:buNone/>
              <a:defRPr sz="2000">
                <a:solidFill>
                  <a:srgbClr val="000000"/>
                </a:solidFill>
              </a:defRPr>
            </a:pPr>
            <a:endParaRPr lang="en-US" sz="1500" dirty="0" smtClean="0"/>
          </a:p>
          <a:p>
            <a:pPr marL="114300" indent="0">
              <a:buNone/>
              <a:defRPr sz="2000">
                <a:solidFill>
                  <a:srgbClr val="000000"/>
                </a:solidFill>
              </a:defRPr>
            </a:pPr>
            <a:r>
              <a:rPr lang="en-US" sz="1500" dirty="0" smtClean="0"/>
              <a:t> </a:t>
            </a:r>
            <a:endParaRPr lang="en-US" sz="1500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6960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15822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138055"/>
            <a:ext cx="8520600" cy="64425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</a:rPr>
              <a:t>Objectives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1700" y="1805121"/>
            <a:ext cx="8520600" cy="2510701"/>
          </a:xfrm>
        </p:spPr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Develop a Transformer-based NMT system for Amharic–English translation in the religious domain</a:t>
            </a:r>
            <a:r>
              <a:rPr lang="en-US" sz="1600" dirty="0" smtClean="0"/>
              <a:t>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600" dirty="0" smtClean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Employ </a:t>
            </a:r>
            <a:r>
              <a:rPr lang="en-US" sz="1600" dirty="0" err="1"/>
              <a:t>SentencePiece</a:t>
            </a:r>
            <a:r>
              <a:rPr lang="en-US" sz="1600" dirty="0"/>
              <a:t> </a:t>
            </a:r>
            <a:r>
              <a:rPr lang="en-US" sz="1600" dirty="0" err="1"/>
              <a:t>subword</a:t>
            </a:r>
            <a:r>
              <a:rPr lang="en-US" sz="1600" dirty="0"/>
              <a:t> tokenization to mitigate OOV issues</a:t>
            </a:r>
            <a:r>
              <a:rPr lang="en-US" sz="1600" dirty="0" smtClean="0"/>
              <a:t>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600"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Utilize dropout regularization and early stopping to improve generalization</a:t>
            </a:r>
            <a:r>
              <a:rPr lang="en-US" sz="1600" dirty="0" smtClean="0"/>
              <a:t>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sz="1600"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Evaluate the model with BLEU metric and compare it to baseline architectures.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dirty="0"/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95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103391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071735"/>
            <a:ext cx="8520600" cy="57110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Literature Review</a:t>
            </a:r>
          </a:p>
        </p:txBody>
      </p:sp>
      <p:sp>
        <p:nvSpPr>
          <p:cNvPr id="9" name="Rectangle 1"/>
          <p:cNvSpPr>
            <a:spLocks noGrp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1" name="Rectangle 10"/>
          <p:cNvSpPr/>
          <p:nvPr/>
        </p:nvSpPr>
        <p:spPr>
          <a:xfrm>
            <a:off x="643179" y="1805502"/>
            <a:ext cx="80126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Subword</a:t>
            </a:r>
            <a:r>
              <a:rPr lang="en-US" sz="1600" dirty="0"/>
              <a:t> and character-level models improve performance in low-resource NMT (</a:t>
            </a:r>
            <a:r>
              <a:rPr lang="en-US" sz="1600" dirty="0" err="1"/>
              <a:t>Gezmu</a:t>
            </a:r>
            <a:r>
              <a:rPr lang="en-US" sz="1600" dirty="0"/>
              <a:t> et al., 2022</a:t>
            </a:r>
            <a:r>
              <a:rPr lang="en-US" sz="1600" dirty="0" smtClean="0"/>
              <a:t>)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SentencePiece</a:t>
            </a:r>
            <a:r>
              <a:rPr lang="en-US" sz="1600" dirty="0"/>
              <a:t> provides language-independent segmentation for morphologically rich languages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Domain adaptation enhances fluency and semantic preservation in specialized texts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Asefa</a:t>
            </a:r>
            <a:r>
              <a:rPr lang="en-US" sz="1600" dirty="0"/>
              <a:t> &amp; </a:t>
            </a:r>
            <a:r>
              <a:rPr lang="en-US" sz="1600" dirty="0" err="1"/>
              <a:t>Assabie</a:t>
            </a:r>
            <a:r>
              <a:rPr lang="en-US" sz="1600" dirty="0"/>
              <a:t> (2025) achieved BLEU 40.59; this work surpasses it with BLEU 59.03 using domain-specific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930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59902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071735"/>
            <a:ext cx="8520600" cy="409625"/>
          </a:xfrm>
        </p:spPr>
        <p:txBody>
          <a:bodyPr>
            <a:normAutofit fontScale="9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</a:rPr>
              <a:t>Methodology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4763" y="5059989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1700" y="1688315"/>
            <a:ext cx="8520600" cy="2426485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Dataset: OPUS </a:t>
            </a:r>
            <a:r>
              <a:rPr lang="en-US" sz="1600" dirty="0" err="1"/>
              <a:t>Tanzil</a:t>
            </a:r>
            <a:r>
              <a:rPr lang="en-US" sz="1600" dirty="0"/>
              <a:t> corpus – 25,000 Amharic–English sentence pairs</a:t>
            </a:r>
            <a:r>
              <a:rPr lang="en-US" sz="1600" dirty="0" smtClean="0"/>
              <a:t>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 smtClean="0"/>
              <a:t>Preprocessing</a:t>
            </a:r>
            <a:r>
              <a:rPr lang="en-US" sz="1600" dirty="0"/>
              <a:t>: Cleaning, normalization, and removal of malformed or duplicate pairs.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Tokenization: </a:t>
            </a:r>
            <a:r>
              <a:rPr lang="en-US" sz="1600" dirty="0" err="1"/>
              <a:t>SentencePiece</a:t>
            </a:r>
            <a:r>
              <a:rPr lang="en-US" sz="1600" dirty="0"/>
              <a:t> with 8,000 vocabulary size for each language</a:t>
            </a:r>
            <a:r>
              <a:rPr lang="en-US" sz="1600" dirty="0" smtClean="0"/>
              <a:t>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 smtClean="0"/>
              <a:t> </a:t>
            </a:r>
            <a:r>
              <a:rPr lang="en-US" sz="1600" dirty="0"/>
              <a:t>Model: Transformer (2-layer encoder–decoder, 8 </a:t>
            </a:r>
            <a:r>
              <a:rPr lang="en-US" sz="1600" dirty="0" smtClean="0"/>
              <a:t>heads,518-FFN)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Training: Adam optimizer (</a:t>
            </a:r>
            <a:r>
              <a:rPr lang="en-US" sz="1600" dirty="0" err="1"/>
              <a:t>lr</a:t>
            </a:r>
            <a:r>
              <a:rPr lang="en-US" sz="1600" dirty="0"/>
              <a:t>=1e-4), 15 epochs, batch size 64, dropout=0.1</a:t>
            </a:r>
            <a:r>
              <a:rPr lang="en-US" sz="16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Training</a:t>
            </a:r>
            <a:r>
              <a:rPr lang="en-US" dirty="0"/>
              <a:t>: 19,032 pairs (80%)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Validation</a:t>
            </a:r>
            <a:r>
              <a:rPr lang="en-US" dirty="0"/>
              <a:t>: 2,379 pairs (10%)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Test</a:t>
            </a:r>
            <a:r>
              <a:rPr lang="en-US" dirty="0"/>
              <a:t>: 2,379 pairs (10</a:t>
            </a:r>
            <a:r>
              <a:rPr lang="en-US" dirty="0" smtClean="0"/>
              <a:t>%)</a:t>
            </a:r>
            <a:endParaRPr lang="en-US" sz="1600"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Evaluation: BLEU-4 metric via </a:t>
            </a:r>
            <a:r>
              <a:rPr lang="en-US" sz="1600" dirty="0" err="1"/>
              <a:t>SacreBLEU</a:t>
            </a:r>
            <a:r>
              <a:rPr lang="en-US" sz="1600" dirty="0"/>
              <a:t> and qualitative translation analysis</a:t>
            </a:r>
            <a:r>
              <a:rPr lang="en-US" sz="1600" dirty="0" smtClean="0"/>
              <a:t>.</a:t>
            </a:r>
          </a:p>
          <a:p>
            <a:pPr marL="114300" indent="0">
              <a:buNone/>
              <a:defRPr sz="2000">
                <a:solidFill>
                  <a:srgbClr val="000000"/>
                </a:solidFill>
              </a:defRPr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3919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14" y="1026210"/>
            <a:ext cx="8810786" cy="2549654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797444" y="3659321"/>
            <a:ext cx="3513056" cy="598577"/>
          </a:xfrm>
        </p:spPr>
        <p:txBody>
          <a:bodyPr/>
          <a:lstStyle/>
          <a:p>
            <a:r>
              <a:rPr lang="en-US" dirty="0" smtClean="0"/>
              <a:t>Before and After preprocessing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2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797444" y="3659321"/>
            <a:ext cx="3513056" cy="598577"/>
          </a:xfrm>
        </p:spPr>
        <p:txBody>
          <a:bodyPr/>
          <a:lstStyle/>
          <a:p>
            <a:r>
              <a:rPr lang="en-US" dirty="0" smtClean="0"/>
              <a:t> After Applying Tokenization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42" y="917354"/>
            <a:ext cx="7927383" cy="271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1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790413" y="3671214"/>
            <a:ext cx="7873139" cy="852810"/>
          </a:xfrm>
        </p:spPr>
        <p:txBody>
          <a:bodyPr>
            <a:normAutofit/>
          </a:bodyPr>
          <a:lstStyle/>
          <a:p>
            <a:r>
              <a:rPr lang="en-US" dirty="0" smtClean="0"/>
              <a:t>Workflow of proposed model                                      Architecture of pro[posed model</a:t>
            </a:r>
            <a:endParaRPr lang="en-US" dirty="0"/>
          </a:p>
        </p:txBody>
      </p:sp>
      <p:pic>
        <p:nvPicPr>
          <p:cNvPr id="11" name="Image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24282" y="1142009"/>
            <a:ext cx="2972435" cy="2529205"/>
          </a:xfrm>
          <a:prstGeom prst="rect">
            <a:avLst/>
          </a:prstGeom>
        </p:spPr>
      </p:pic>
      <p:pic>
        <p:nvPicPr>
          <p:cNvPr id="12" name="Image 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3549" y="1142009"/>
            <a:ext cx="278638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1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34" y="1084882"/>
            <a:ext cx="3781470" cy="25716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972" y="1022888"/>
            <a:ext cx="3381160" cy="260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6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793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22911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129843"/>
            <a:ext cx="8520600" cy="5727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</a:rPr>
              <a:t>Results &amp; Discussion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918134"/>
            <a:ext cx="8499086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BLEU Score (Test): 59.03 – outperforming RNN baseline (26.08) and prior Transformer (40.59</a:t>
            </a:r>
            <a:r>
              <a:rPr lang="en-US" sz="1600" dirty="0" smtClean="0"/>
              <a:t>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Validation Loss: 0.0605 after 15 epochs.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Convergence observed with minimal </a:t>
            </a:r>
            <a:r>
              <a:rPr lang="en-US" sz="1600" dirty="0" err="1"/>
              <a:t>overfitting</a:t>
            </a:r>
            <a:r>
              <a:rPr lang="en-US" sz="1600" dirty="0"/>
              <a:t> (Training </a:t>
            </a:r>
            <a:r>
              <a:rPr lang="en-US" sz="1600" dirty="0" err="1"/>
              <a:t>vs</a:t>
            </a:r>
            <a:r>
              <a:rPr lang="en-US" sz="1600" dirty="0"/>
              <a:t> Validation Loss stable).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 err="1"/>
              <a:t>SentencePiece</a:t>
            </a:r>
            <a:r>
              <a:rPr lang="en-US" sz="1600" dirty="0"/>
              <a:t> effectively handled morphological variations.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Qualitative results confirmed accurate and fluent Amharic–English translations.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 dirty="0"/>
          </a:p>
        </p:txBody>
      </p:sp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65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85" y="1211552"/>
            <a:ext cx="7342275" cy="2367079"/>
          </a:xfrm>
          <a:prstGeom prst="rect">
            <a:avLst/>
          </a:prstGeom>
        </p:spPr>
      </p:pic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1766806" y="3851329"/>
            <a:ext cx="5091194" cy="542440"/>
          </a:xfrm>
        </p:spPr>
        <p:txBody>
          <a:bodyPr>
            <a:normAutofit/>
          </a:bodyPr>
          <a:lstStyle/>
          <a:p>
            <a:r>
              <a:rPr lang="en-US" dirty="0" smtClean="0"/>
              <a:t>Sample  Output  obtained by Proposed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453" y="966788"/>
            <a:ext cx="4834547" cy="34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2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207875"/>
            <a:ext cx="8520600" cy="67926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Conclusion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&amp; Future Scope</a:t>
            </a:r>
          </a:p>
        </p:txBody>
      </p:sp>
      <p:sp>
        <p:nvSpPr>
          <p:cNvPr id="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752439"/>
            <a:ext cx="826679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Developed </a:t>
            </a:r>
            <a:r>
              <a:rPr lang="en-US" dirty="0"/>
              <a:t>an effective Transformer-based NMT system for Amharic–English translation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Achieved state-of-the-art BLEU performance through </a:t>
            </a:r>
            <a:r>
              <a:rPr lang="en-US" dirty="0" err="1"/>
              <a:t>subword</a:t>
            </a:r>
            <a:r>
              <a:rPr lang="en-US" dirty="0"/>
              <a:t> tokenization and domain adaptation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Limitations: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Used </a:t>
            </a:r>
            <a:r>
              <a:rPr lang="en-US" dirty="0"/>
              <a:t>greedy decoding; limited regularization techniques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Future </a:t>
            </a:r>
            <a:r>
              <a:rPr lang="en-US" dirty="0"/>
              <a:t>work</a:t>
            </a:r>
            <a:r>
              <a:rPr lang="en-US" dirty="0" smtClean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Implement </a:t>
            </a:r>
            <a:r>
              <a:rPr lang="en-US" dirty="0"/>
              <a:t>beam search, label smoothing, multilingual </a:t>
            </a:r>
            <a:r>
              <a:rPr lang="en-US" dirty="0" err="1"/>
              <a:t>pretraining</a:t>
            </a:r>
            <a:r>
              <a:rPr lang="en-US" dirty="0"/>
              <a:t>, and extend to other domains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Explore </a:t>
            </a:r>
            <a:r>
              <a:rPr lang="en-US" dirty="0"/>
              <a:t>transfer learning using multilingual pre-trained models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Extend to other Semitic or African languages and non-religious domains.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451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979422"/>
            <a:ext cx="8520600" cy="5727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9708" y="1807898"/>
            <a:ext cx="8353587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 smtClean="0"/>
              <a:t>A</a:t>
            </a:r>
            <a:r>
              <a:rPr lang="en-US" sz="1600" dirty="0"/>
              <a:t>. </a:t>
            </a:r>
            <a:r>
              <a:rPr lang="en-US" sz="1600" dirty="0" err="1"/>
              <a:t>Vaswani</a:t>
            </a:r>
            <a:r>
              <a:rPr lang="en-US" sz="1600" dirty="0"/>
              <a:t> et al., “Attention Is All You Need,” </a:t>
            </a:r>
            <a:r>
              <a:rPr lang="en-US" sz="1600" dirty="0" err="1"/>
              <a:t>NeurIPS</a:t>
            </a:r>
            <a:r>
              <a:rPr lang="en-US" sz="1600" dirty="0"/>
              <a:t>, 2017</a:t>
            </a:r>
            <a:r>
              <a:rPr lang="en-US" sz="1600" dirty="0" smtClean="0"/>
              <a:t>.</a:t>
            </a:r>
            <a:endParaRPr lang="en-US" sz="1600"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 smtClean="0"/>
              <a:t>G</a:t>
            </a:r>
            <a:r>
              <a:rPr lang="en-US" sz="1600" dirty="0"/>
              <a:t>. </a:t>
            </a:r>
            <a:r>
              <a:rPr lang="en-US" sz="1600" dirty="0" err="1"/>
              <a:t>Gezmu</a:t>
            </a:r>
            <a:r>
              <a:rPr lang="en-US" sz="1600" dirty="0"/>
              <a:t> et al., “</a:t>
            </a:r>
            <a:r>
              <a:rPr lang="en-US" sz="1600" dirty="0" err="1"/>
              <a:t>Subword</a:t>
            </a:r>
            <a:r>
              <a:rPr lang="en-US" sz="1600" dirty="0"/>
              <a:t>-Based Transformer NMT Models for Amharic–English,” </a:t>
            </a:r>
            <a:r>
              <a:rPr lang="en-US" sz="1600" dirty="0" err="1"/>
              <a:t>arXiv</a:t>
            </a:r>
            <a:r>
              <a:rPr lang="en-US" sz="1600" dirty="0"/>
              <a:t>, 2022</a:t>
            </a:r>
            <a:r>
              <a:rPr lang="en-US" sz="1600" dirty="0" smtClean="0"/>
              <a:t>.</a:t>
            </a:r>
            <a:endParaRPr lang="en-US" sz="1600"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 smtClean="0"/>
              <a:t> </a:t>
            </a:r>
            <a:r>
              <a:rPr lang="en-US" sz="1600" dirty="0"/>
              <a:t>B. Belay &amp; Y. </a:t>
            </a:r>
            <a:r>
              <a:rPr lang="en-US" sz="1600" dirty="0" err="1"/>
              <a:t>Assabie</a:t>
            </a:r>
            <a:r>
              <a:rPr lang="en-US" sz="1600" dirty="0"/>
              <a:t>, “Improving Amharic–English Machine Translation,” </a:t>
            </a:r>
            <a:r>
              <a:rPr lang="en-US" sz="1600" dirty="0" err="1"/>
              <a:t>arXiv</a:t>
            </a:r>
            <a:r>
              <a:rPr lang="en-US" sz="1600" dirty="0"/>
              <a:t>, 2023</a:t>
            </a:r>
            <a:r>
              <a:rPr lang="en-US" sz="1600" dirty="0" smtClean="0"/>
              <a:t>.</a:t>
            </a:r>
            <a:endParaRPr lang="en-US" sz="1600"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 smtClean="0"/>
              <a:t>S</a:t>
            </a:r>
            <a:r>
              <a:rPr lang="en-US" sz="1600" dirty="0"/>
              <a:t>. H. </a:t>
            </a:r>
            <a:r>
              <a:rPr lang="en-US" sz="1600" dirty="0" err="1"/>
              <a:t>Asefa</a:t>
            </a:r>
            <a:r>
              <a:rPr lang="en-US" sz="1600" dirty="0"/>
              <a:t> &amp; Y. </a:t>
            </a:r>
            <a:r>
              <a:rPr lang="en-US" sz="1600" dirty="0" err="1"/>
              <a:t>Assabie</a:t>
            </a:r>
            <a:r>
              <a:rPr lang="en-US" sz="1600" dirty="0"/>
              <a:t>, “Transformer-Based Amharic-to-English Machine Translation,” IEEE Access, 2025</a:t>
            </a:r>
            <a:r>
              <a:rPr lang="en-US" sz="1600" dirty="0" smtClean="0"/>
              <a:t>.</a:t>
            </a:r>
            <a:endParaRPr lang="en-US" sz="1600"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600" dirty="0" err="1" smtClean="0"/>
              <a:t>Tanzil</a:t>
            </a:r>
            <a:r>
              <a:rPr lang="en-US" sz="1600" dirty="0" smtClean="0"/>
              <a:t> </a:t>
            </a:r>
            <a:r>
              <a:rPr lang="en-US" sz="1600" dirty="0"/>
              <a:t>Project: https://opus.nlpl.eu/Tanzil.php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-4762" y="5028747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02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2890434" y="1573078"/>
            <a:ext cx="3789335" cy="135610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</a:rPr>
              <a:t>THANK YOU!!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90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3118</TotalTime>
  <Words>677</Words>
  <Application>Microsoft Office PowerPoint</Application>
  <PresentationFormat>On-screen Show (16:9)</PresentationFormat>
  <Paragraphs>109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 Introduction </vt:lpstr>
      <vt:lpstr>Problem Statement</vt:lpstr>
      <vt:lpstr>Objectives</vt:lpstr>
      <vt:lpstr>Literature Review</vt:lpstr>
      <vt:lpstr>Methodology</vt:lpstr>
      <vt:lpstr>PowerPoint Presentation</vt:lpstr>
      <vt:lpstr>PowerPoint Presentation</vt:lpstr>
      <vt:lpstr>PowerPoint Presentation</vt:lpstr>
      <vt:lpstr>PowerPoint Presentation</vt:lpstr>
      <vt:lpstr>Results &amp; Discussion</vt:lpstr>
      <vt:lpstr>PowerPoint Presentation</vt:lpstr>
      <vt:lpstr>PowerPoint Presentation</vt:lpstr>
      <vt:lpstr>Conclusion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admin</cp:lastModifiedBy>
  <cp:revision>65</cp:revision>
  <dcterms:modified xsi:type="dcterms:W3CDTF">2025-11-01T03:09:47Z</dcterms:modified>
</cp:coreProperties>
</file>