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4" r:id="rId6"/>
    <p:sldId id="261" r:id="rId7"/>
    <p:sldId id="274" r:id="rId8"/>
    <p:sldId id="262" r:id="rId9"/>
    <p:sldId id="263" r:id="rId10"/>
    <p:sldId id="265" r:id="rId11"/>
    <p:sldId id="267" r:id="rId12"/>
    <p:sldId id="266" r:id="rId13"/>
    <p:sldId id="268" r:id="rId14"/>
    <p:sldId id="279" r:id="rId15"/>
    <p:sldId id="275" r:id="rId16"/>
    <p:sldId id="276" r:id="rId17"/>
    <p:sldId id="284" r:id="rId18"/>
    <p:sldId id="269" r:id="rId19"/>
    <p:sldId id="280" r:id="rId20"/>
    <p:sldId id="277" r:id="rId21"/>
    <p:sldId id="281" r:id="rId22"/>
    <p:sldId id="270" r:id="rId23"/>
    <p:sldId id="271" r:id="rId24"/>
    <p:sldId id="282" r:id="rId25"/>
    <p:sldId id="283" r:id="rId26"/>
    <p:sldId id="272" r:id="rId27"/>
    <p:sldId id="273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4660"/>
  </p:normalViewPr>
  <p:slideViewPr>
    <p:cSldViewPr>
      <p:cViewPr>
        <p:scale>
          <a:sx n="33" d="100"/>
          <a:sy n="33" d="100"/>
        </p:scale>
        <p:origin x="1984" y="7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0567" TargetMode="External"/><Relationship Id="rId2" Type="http://schemas.openxmlformats.org/officeDocument/2006/relationships/hyperlink" Target="https://arxiv.org/abs/1409.047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clanthology.org/2022.lrec-1.124.pdf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813169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Q19-1042.pdf" TargetMode="External"/><Relationship Id="rId2" Type="http://schemas.openxmlformats.org/officeDocument/2006/relationships/hyperlink" Target="https://papers.nips.cc/paper/2017/file/3f5ee243547dee91fbd053c1c4a845aa-Paper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2.10934" TargetMode="External"/><Relationship Id="rId2" Type="http://schemas.openxmlformats.org/officeDocument/2006/relationships/hyperlink" Target="https://aclanthology.org/2022.lrec-1.124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clanthology.org/2020.acl-main.430.pdf" TargetMode="External"/><Relationship Id="rId5" Type="http://schemas.openxmlformats.org/officeDocument/2006/relationships/hyperlink" Target="https://www.bioinf.jku.at/publications/older/2604.pdf" TargetMode="External"/><Relationship Id="rId4" Type="http://schemas.openxmlformats.org/officeDocument/2006/relationships/hyperlink" Target="https://aclanthology.org/D18-2012.pdf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5.13055" TargetMode="External"/><Relationship Id="rId2" Type="http://schemas.openxmlformats.org/officeDocument/2006/relationships/hyperlink" Target="https://aclanthology.org/2020.tacl-1.47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document/10813169" TargetMode="External"/><Relationship Id="rId5" Type="http://schemas.openxmlformats.org/officeDocument/2006/relationships/hyperlink" Target="https://aclanthology.org/2020.emnlp-demos.6.pdf" TargetMode="External"/><Relationship Id="rId4" Type="http://schemas.openxmlformats.org/officeDocument/2006/relationships/hyperlink" Target="https://arxiv.org/abs/2301.00251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1498341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 smtClean="0"/>
              <a:t>Engineering</a:t>
            </a:r>
          </a:p>
          <a:p>
            <a:pPr algn="ctr">
              <a:defRPr sz="2200">
                <a:latin typeface="Times New Roman"/>
              </a:defRPr>
            </a:pPr>
            <a:r>
              <a:rPr lang="en-US" sz="2400" dirty="0">
                <a:solidFill>
                  <a:srgbClr val="FF0000"/>
                </a:solidFill>
              </a:rPr>
              <a:t>A Transformer-Based Framework for Domain-Sensitive Amharic–English Neural Machine Translation with Character-Aware </a:t>
            </a:r>
            <a:r>
              <a:rPr lang="en-US" sz="2400" dirty="0" err="1">
                <a:solidFill>
                  <a:srgbClr val="FF0000"/>
                </a:solidFill>
              </a:rPr>
              <a:t>Subword</a:t>
            </a:r>
            <a:r>
              <a:rPr lang="en-US" sz="2400" dirty="0">
                <a:solidFill>
                  <a:srgbClr val="FF0000"/>
                </a:solidFill>
              </a:rPr>
              <a:t> Encoding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04840" y="1946592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9378" y="2377445"/>
            <a:ext cx="4562221" cy="10180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err="1" smtClean="0">
                <a:latin typeface="Times New Roman"/>
                <a:cs typeface="Times New Roman"/>
              </a:rPr>
              <a:t>M.Sai</a:t>
            </a:r>
            <a:r>
              <a:rPr lang="en-US" sz="1550" dirty="0" smtClean="0">
                <a:latin typeface="Times New Roman"/>
                <a:cs typeface="Times New Roman"/>
              </a:rPr>
              <a:t> </a:t>
            </a:r>
            <a:r>
              <a:rPr lang="en-US" sz="1550" dirty="0" err="1" smtClean="0">
                <a:latin typeface="Times New Roman"/>
                <a:cs typeface="Times New Roman"/>
              </a:rPr>
              <a:t>Jyothi</a:t>
            </a:r>
            <a:r>
              <a:rPr lang="en-US" sz="1550" dirty="0" smtClean="0">
                <a:latin typeface="Times New Roman"/>
                <a:cs typeface="Times New Roman"/>
              </a:rPr>
              <a:t>                                 (22471A05H1)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err="1" smtClean="0">
                <a:latin typeface="Times New Roman"/>
                <a:cs typeface="Times New Roman"/>
              </a:rPr>
              <a:t>D.Divya</a:t>
            </a:r>
            <a:r>
              <a:rPr lang="en-US" sz="1550" dirty="0" smtClean="0">
                <a:latin typeface="Times New Roman"/>
                <a:cs typeface="Times New Roman"/>
              </a:rPr>
              <a:t>                                       (22471A05F3)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err="1" smtClean="0">
                <a:latin typeface="Times New Roman"/>
                <a:cs typeface="Times New Roman"/>
              </a:rPr>
              <a:t>D.Srujana</a:t>
            </a:r>
            <a:r>
              <a:rPr lang="en-US" sz="1550" dirty="0" smtClean="0">
                <a:latin typeface="Times New Roman"/>
                <a:cs typeface="Times New Roman"/>
              </a:rPr>
              <a:t> </a:t>
            </a:r>
            <a:r>
              <a:rPr lang="en-US" sz="1550" dirty="0" err="1" smtClean="0">
                <a:latin typeface="Times New Roman"/>
                <a:cs typeface="Times New Roman"/>
              </a:rPr>
              <a:t>Sankerthi</a:t>
            </a:r>
            <a:r>
              <a:rPr lang="en-US" sz="1550" dirty="0" smtClean="0">
                <a:latin typeface="Times New Roman"/>
                <a:cs typeface="Times New Roman"/>
              </a:rPr>
              <a:t>                      (22471A05F0)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634" y="3599878"/>
            <a:ext cx="4304665" cy="19688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US" sz="1550" b="1" dirty="0" smtClean="0">
                <a:latin typeface="Times New Roman"/>
                <a:cs typeface="Times New Roman"/>
              </a:rPr>
              <a:t>Syed </a:t>
            </a:r>
            <a:r>
              <a:rPr lang="en-US" sz="1550" b="1" dirty="0" err="1" smtClean="0">
                <a:latin typeface="Times New Roman"/>
                <a:cs typeface="Times New Roman"/>
              </a:rPr>
              <a:t>Rizwana,</a:t>
            </a:r>
            <a:r>
              <a:rPr lang="en-US" sz="1575" b="1" spc="-15" baseline="-15873" dirty="0" err="1" smtClean="0">
                <a:latin typeface="Times New Roman"/>
                <a:cs typeface="Times New Roman"/>
              </a:rPr>
              <a:t>B.Tech,M.Tech</a:t>
            </a:r>
            <a:r>
              <a:rPr sz="1550" b="1" spc="-10" dirty="0" smtClean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 smtClean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 smtClean="0"/>
              <a:t>1</a:t>
            </a:r>
            <a:r>
              <a:rPr lang="en-US" spc="-10" dirty="0" smtClean="0"/>
              <a:t>10-11-2025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US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276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 smtClean="0"/>
              <a:t>No.</a:t>
            </a:r>
            <a:r>
              <a:rPr lang="en-US" spc="-25" dirty="0" smtClean="0"/>
              <a:t>CG9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43552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 smtClean="0">
                <a:latin typeface="Times New Roman"/>
                <a:cs typeface="Times New Roman"/>
              </a:rPr>
              <a:t>Introduction</a:t>
            </a:r>
            <a:endParaRPr lang="en-US" sz="1800" spc="-10" dirty="0" smtClean="0">
              <a:latin typeface="Times New Roman"/>
              <a:cs typeface="Times New Roman"/>
            </a:endParaRPr>
          </a:p>
          <a:p>
            <a:pPr marL="527050" indent="-514350">
              <a:spcBef>
                <a:spcPts val="390"/>
              </a:spcBef>
              <a:buFontTx/>
              <a:buAutoNum type="arabicPeriod"/>
              <a:tabLst>
                <a:tab pos="52705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Problem</a:t>
            </a:r>
            <a:r>
              <a:rPr lang="en-US" sz="1800" spc="-50" dirty="0" smtClean="0">
                <a:latin typeface="Times New Roman"/>
                <a:cs typeface="Times New Roman"/>
              </a:rPr>
              <a:t> </a:t>
            </a:r>
            <a:r>
              <a:rPr lang="en-US" sz="1800" spc="-10" dirty="0" smtClean="0">
                <a:latin typeface="Times New Roman"/>
                <a:cs typeface="Times New Roman"/>
              </a:rPr>
              <a:t>Statement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 smtClean="0">
                <a:latin typeface="Times New Roman"/>
                <a:cs typeface="Times New Roman"/>
              </a:rPr>
              <a:t>Objectives</a:t>
            </a:r>
            <a:endParaRPr lang="en-US" sz="1800" spc="-10" dirty="0" smtClean="0">
              <a:latin typeface="Times New Roman"/>
              <a:cs typeface="Times New Roman"/>
            </a:endParaRPr>
          </a:p>
          <a:p>
            <a:pPr marL="527050" indent="-514350">
              <a:spcBef>
                <a:spcPts val="390"/>
              </a:spcBef>
              <a:buFontTx/>
              <a:buAutoNum type="arabicPeriod"/>
              <a:tabLst>
                <a:tab pos="527050" algn="l"/>
              </a:tabLst>
            </a:pPr>
            <a:r>
              <a:rPr lang="en-US" sz="1800" spc="-10" dirty="0" smtClean="0">
                <a:latin typeface="Times New Roman"/>
                <a:cs typeface="Times New Roman"/>
              </a:rPr>
              <a:t>Methodology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 smtClean="0">
                <a:latin typeface="Times New Roman"/>
                <a:cs typeface="Times New Roman"/>
              </a:rPr>
              <a:t>Implementation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Question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 dirty="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813305"/>
            <a:ext cx="10893426" cy="409214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a Transformer-based neural machine translation model for Amharic–English translation.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Focused on religious text domain to ensure accurate meaning and style preservation.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SentencePiece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tokenization and character-aware Transformer to handle Amharic’s complex morphology.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Trained on a cleaned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Tanzil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Amharic–English corpus for improved translation quality.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Achieved a BLEU score of 59.03, outperforming baseline RNN with Attention model (26.08).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Produced fluent, contextually accurate, and domain-sensitive translations.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 reproducible and scalable framework for low-resource language translation.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4130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371600"/>
            <a:ext cx="9902824" cy="453201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to the Project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Designed a Transformer-based Amharic–English translation model for domain-specific texts.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Aims to improve translation fluency and accuracy for low-resource languages.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the Project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NMT systems struggle with Amharic’s complex morphology and    limited data.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accurate and meaningful translation of religious texts.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Relevance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preserve and promote the Amharic language digitally.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Useful for low-resource language research and real-world translation applications.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371600"/>
            <a:ext cx="10741025" cy="431913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translation between Amharic and English remains challenging due to complex morphology and limited data.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NMT systems struggle with word segmentation, context preservation, and rare word handling.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Most current models are not optimized for domain-specific or low-resource languages.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problem addressed is developing an effective Amharic–English translation model using Transformer architecture.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Significance lies in improving translation fluency, accuracy, and applicability to real-world low-resource domains.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856254"/>
              </p:ext>
            </p:extLst>
          </p:nvPr>
        </p:nvGraphicFramePr>
        <p:xfrm>
          <a:off x="679451" y="1052195"/>
          <a:ext cx="11131549" cy="5120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094"/>
                <a:gridCol w="1965348"/>
                <a:gridCol w="1637896"/>
                <a:gridCol w="1689904"/>
                <a:gridCol w="1908205"/>
                <a:gridCol w="1563418"/>
                <a:gridCol w="1751684"/>
              </a:tblGrid>
              <a:tr h="575819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10692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 smtClean="0"/>
                        <a:t>Neural Machine Translation by Jointly Learning to Align and Translate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Bahdanau</a:t>
                      </a:r>
                      <a:r>
                        <a:rPr lang="en-US" sz="1600" dirty="0" smtClean="0"/>
                        <a:t> 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US" sz="1400" dirty="0" smtClean="0"/>
                        <a:t>ICLR, 2015 — </a:t>
                      </a:r>
                      <a:r>
                        <a:rPr lang="en-US" sz="1400" dirty="0" smtClean="0">
                          <a:hlinkClick r:id="rId2"/>
                        </a:rPr>
                        <a:t>https://arxiv.org/abs/1409.0473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RNN encoder–decoder with attention mechanism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Improved translation by aligning source and target words.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Sequential and slow for long sentences; limited context handling.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365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Subword</a:t>
                      </a:r>
                      <a:r>
                        <a:rPr lang="en-US" sz="1600" dirty="0" smtClean="0"/>
                        <a:t>-Based Transformer for Amharic–English NMT</a:t>
                      </a:r>
                      <a:endParaRPr lang="en-US"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Gezmu</a:t>
                      </a:r>
                      <a:r>
                        <a:rPr lang="en-US" sz="1600" dirty="0" smtClean="0"/>
                        <a:t> et al.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arXiv</a:t>
                      </a:r>
                      <a:r>
                        <a:rPr lang="en-US" sz="1600" dirty="0" smtClean="0"/>
                        <a:t>, 2022 — </a:t>
                      </a:r>
                      <a:r>
                        <a:rPr lang="en-US" sz="1600" dirty="0" smtClean="0">
                          <a:hlinkClick r:id="rId3"/>
                        </a:rPr>
                        <a:t>https://arxiv.org/abs/2203.00567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Transformer with </a:t>
                      </a:r>
                      <a:r>
                        <a:rPr lang="en-US" sz="1600" dirty="0" err="1" smtClean="0"/>
                        <a:t>subword</a:t>
                      </a:r>
                      <a:r>
                        <a:rPr lang="en-US" sz="1600" dirty="0" smtClean="0"/>
                        <a:t> tokenization (</a:t>
                      </a:r>
                      <a:r>
                        <a:rPr lang="en-US" sz="1600" dirty="0" err="1" smtClean="0"/>
                        <a:t>SentencePiece</a:t>
                      </a:r>
                      <a:r>
                        <a:rPr lang="en-US" sz="1600" dirty="0" smtClean="0"/>
                        <a:t>)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Reduced OOV issues and improved BLEU score for Amharic–English.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Limited domain adaptation; lacks character-level integration.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92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Attention Is All You Need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Vaswani</a:t>
                      </a:r>
                      <a:r>
                        <a:rPr lang="en-US" sz="1600" dirty="0" smtClean="0"/>
                        <a:t> et al.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NeurIPS</a:t>
                      </a:r>
                      <a:r>
                        <a:rPr lang="en-US" sz="1600" dirty="0" smtClean="0"/>
                        <a:t>, 2017 — https://arxiv.org/abs/1706.03762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Transformer with multi-head self-attention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Achieved better context understanding and parallel learning.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Requires large datasets and high computational resources.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92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MorphoSeg</a:t>
                      </a:r>
                      <a:r>
                        <a:rPr lang="en-US" sz="1600" dirty="0" smtClean="0"/>
                        <a:t>: Morphologically-Aware Segmentation for Amharic NMT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Gezmu</a:t>
                      </a:r>
                      <a:r>
                        <a:rPr lang="en-US" sz="1600" dirty="0" smtClean="0"/>
                        <a:t> &amp; </a:t>
                      </a:r>
                      <a:r>
                        <a:rPr lang="en-US" sz="1600" dirty="0" err="1" smtClean="0"/>
                        <a:t>Nürnberger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LREC, 2022 — </a:t>
                      </a:r>
                      <a:r>
                        <a:rPr lang="en-US" sz="1600" dirty="0" smtClean="0">
                          <a:hlinkClick r:id="rId4"/>
                        </a:rPr>
                        <a:t>https://aclanthology.org/2022.lrec-1.124.pdf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Morpheme-based segmentation integrated with NMT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Enhanced translation for morphologically rich Amharic.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Needs linguistic resources for segmentation.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 smtClean="0"/>
              <a:t>LITRATURE</a:t>
            </a:r>
            <a:r>
              <a:rPr sz="3950" spc="-185" dirty="0" smtClean="0"/>
              <a:t> </a:t>
            </a:r>
            <a:r>
              <a:rPr sz="3950" spc="-10" dirty="0" smtClean="0"/>
              <a:t>SURVEY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919701"/>
              </p:ext>
            </p:extLst>
          </p:nvPr>
        </p:nvGraphicFramePr>
        <p:xfrm>
          <a:off x="679451" y="1052195"/>
          <a:ext cx="11131548" cy="15006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9305"/>
                <a:gridCol w="1978802"/>
                <a:gridCol w="1649108"/>
                <a:gridCol w="1701472"/>
                <a:gridCol w="1921267"/>
                <a:gridCol w="1574120"/>
                <a:gridCol w="1687474"/>
              </a:tblGrid>
              <a:tr h="444701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85554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Calibri"/>
                          <a:cs typeface="Calibri"/>
                        </a:rPr>
                        <a:t>5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Transformer-Based Amharic–English NMT with Character Embedding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err="1" smtClean="0"/>
                        <a:t>Asefa</a:t>
                      </a:r>
                      <a:r>
                        <a:rPr lang="en-US" sz="1600" dirty="0" smtClean="0"/>
                        <a:t> &amp; </a:t>
                      </a:r>
                      <a:r>
                        <a:rPr lang="en-US" sz="1600" dirty="0" err="1" smtClean="0"/>
                        <a:t>Assabie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IEEE Access, 2025 — </a:t>
                      </a:r>
                      <a:r>
                        <a:rPr lang="en-US" sz="1600" dirty="0" smtClean="0">
                          <a:hlinkClick r:id="rId2"/>
                        </a:rPr>
                        <a:t>https://ieeexplore.ieee.org/document/10813169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Character-aware Transformer with combined regularization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Achieved higher BLEU and better fluency in low-resource setups.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 smtClean="0"/>
                        <a:t>Computationally heavy and complex to reproduce.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62000" y="2971799"/>
            <a:ext cx="1097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Relevant Literature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NMT models show strong results but struggle with low-resource and morphologically rich languages.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morpheme-based tokenization methods improve translation by reducing OOV errors.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Transformer architectures provide superior context understanding and fluency.</a:t>
            </a:r>
          </a:p>
        </p:txBody>
      </p:sp>
    </p:spTree>
    <p:extLst>
      <p:ext uri="{BB962C8B-B14F-4D97-AF65-F5344CB8AC3E}">
        <p14:creationId xmlns:p14="http://schemas.microsoft.com/office/powerpoint/2010/main" val="209249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45463" y="1828799"/>
            <a:ext cx="10275063" cy="321049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Relation to Project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combines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+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SentencePiece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character awareness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Amharic–English NMT.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Addresses identified gaps in morphology handling, domain adaptation, and dataset scarcity.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Builds on proven methods while tailoring them for low-resource translation performance.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  <a:tabLst>
                <a:tab pos="240665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371600"/>
            <a:ext cx="10402951" cy="394979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work done on Amharic–English translation compared to other high-resource languages.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word-based and RNN-based models fail to handle Amharic’s morphological complexity.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domain-specific translation systems for religious or specialized text.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Insufficient parallel corpus and low-resource data availability.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Current models show poor fluency and context retention in translations.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a domain-sensitive Transformer model combining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character-level encoding.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730872"/>
            <a:ext cx="10402951" cy="3580467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 limitations of existing translation systems such as Google Translate in handling Amharic’s complex word morphology.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Transformer-based Amharic–English model that produces contextually accurate and fluent translations.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character-level tokenization to reduce word-level errors and improve translation quality.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higher BLEU score and better performance for domain-specific (religious) text translation.</a:t>
            </a:r>
          </a:p>
          <a:p>
            <a:pPr marL="527050" indent="-514350">
              <a:lnSpc>
                <a:spcPct val="100000"/>
              </a:lnSpc>
              <a:spcBef>
                <a:spcPts val="780"/>
              </a:spcBef>
              <a:buFont typeface="+mj-lt"/>
              <a:buAutoNum type="arabicPeriod"/>
              <a:tabLst>
                <a:tab pos="527050" algn="l"/>
              </a:tabLst>
            </a:pP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66140" y="1752600"/>
            <a:ext cx="10454385" cy="375487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OPUS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Tanzil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corpus – 25,000 Amharic–English sentence pairs.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Cleaning, normalization, and removal of malformed or duplicate pairs.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SentencePiece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8,000 vocabulary size for each language.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Model: Transformer (2-layer encoder–decoder, 8 heads,518-FFN)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Adam optimizer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=1e-4), 15 epochs, batch size 64, dropout=0.1.</a:t>
            </a:r>
          </a:p>
          <a:p>
            <a:pPr lvl="1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Training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19,032 pairs (80%)</a:t>
            </a:r>
          </a:p>
          <a:p>
            <a:pPr lvl="1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Validation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2,379 pairs (10%)</a:t>
            </a:r>
          </a:p>
          <a:p>
            <a:pPr lvl="1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Test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2,379 pairs (10%)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BLEU-4 metric via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SacreBLEU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qualitative translation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10506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lang="en-US" sz="3950" dirty="0" smtClean="0"/>
              <a:t>                 </a:t>
            </a:r>
            <a:r>
              <a:rPr sz="3950" dirty="0" smtClean="0"/>
              <a:t>FLOW</a:t>
            </a:r>
            <a:r>
              <a:rPr sz="3950" spc="-60" dirty="0" smtClean="0"/>
              <a:t> </a:t>
            </a:r>
            <a:r>
              <a:rPr sz="3950" spc="-10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31" y="1600200"/>
            <a:ext cx="3696822" cy="3886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483468"/>
            <a:ext cx="3931861" cy="42315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31732"/>
            <a:ext cx="1120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Workflow of proposed model                                      Architecture of proposed model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10741025" cy="449353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Specifications: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SentencePiece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Google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GPU acceleration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11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SacreBLEU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Transformers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RAM: 8 GB or higher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GPU: NVIDIA Tesla T4 (provided by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5 GB dataset and model files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60793" y="1043825"/>
            <a:ext cx="10059734" cy="560153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Loaded and preprocessed the OPUS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Tanzil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Amharic–English dataset.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Applied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SentencePiece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tokenization (vocab size 8,000).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Built Transformer architecture (2-layer Encoder–Decoder).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Trained model for 15 epochs using Adam optimizer 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1e-4).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Evaluated translations using BLEU-4 metric (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SacreBLEU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Limited availability of clean Amharic–English parallel data.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Morphological complexity caused token fragmentation.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High GPU time and memory usage during training.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Challenges Were Overcome: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Used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SentencePiece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encoding to reduce OOV issues.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Optimized model parameters for low-resource efficiency.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Leveraged Google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GPU to speed up training and evaluation.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26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96" y="1600200"/>
            <a:ext cx="10268227" cy="34001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38600" y="5334000"/>
            <a:ext cx="403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and After preprocessing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7398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69" y="1287868"/>
            <a:ext cx="10715081" cy="36651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525780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Applying Tokenization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758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762000"/>
            <a:ext cx="8842551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0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730872"/>
            <a:ext cx="10055225" cy="348557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BLEU Score (Test): 59.03 – outperforming RNN baseline (26.08) and prior Transformer (40.59).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Loss: 0.0605 after 15 epochs.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 observed with minimal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(Training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Loss stable).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SentencePiece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handled morphological variations.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results confirmed accurate and fluent Amharic–English translations.</a:t>
            </a:r>
          </a:p>
          <a:p>
            <a:pPr marL="457200" indent="-457200"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22" y="1685503"/>
            <a:ext cx="10399878" cy="33528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flipH="1">
            <a:off x="3124200" y="5240359"/>
            <a:ext cx="6492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  Output  obtained by Proposed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622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68936"/>
            <a:ext cx="5257800" cy="45212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1342302"/>
            <a:ext cx="5912436" cy="454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8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371" y="1828800"/>
            <a:ext cx="9252604" cy="392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02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7574" y="1730872"/>
            <a:ext cx="10664825" cy="474232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Developed an effective Transformer-based NMT system for Amharic–English translation.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Achieved state-of-the-art BLEU performance through </a:t>
            </a:r>
            <a:r>
              <a:rPr lang="en-US" sz="2400" dirty="0" err="1"/>
              <a:t>subword</a:t>
            </a:r>
            <a:r>
              <a:rPr lang="en-US" sz="2400" dirty="0"/>
              <a:t> tokenization and domain adaptation.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Limitations: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Used greedy decoding; limited regularization techniques.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Future work: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Implement beam search, label smoothing, multilingual </a:t>
            </a:r>
            <a:r>
              <a:rPr lang="en-US" sz="2400" dirty="0" err="1"/>
              <a:t>pretraining</a:t>
            </a:r>
            <a:r>
              <a:rPr lang="en-US" sz="2400" dirty="0"/>
              <a:t>, and extend to other domains.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Explore transfer learning using multilingual pre-trained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Extend to other Semitic or African languages and non-religious domains</a:t>
            </a:r>
            <a:r>
              <a:rPr lang="en-US" dirty="0"/>
              <a:t>.</a:t>
            </a: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1" y="1676400"/>
            <a:ext cx="1086611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Bahdanau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“Neural machine translation by jointly learning to align and translate,”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ICLR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2015. https://arxiv.org/abs/1409.0473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Mikolov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“Efficient estimation of word representations in vector space,” </a:t>
            </a:r>
            <a:r>
              <a:rPr kumimoji="0" lang="en-US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2013. https://arxiv.org/abs/1301.3781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Vaswani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“Attention is all you need,” </a:t>
            </a:r>
            <a:r>
              <a:rPr kumimoji="0" lang="en-US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2017.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https://papers.nips.cc/paper/2017/file/3f5ee243547dee91fbd053c1c4a845aa-Paper.pdf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Gezmu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al., “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transformer NMT models for Amharic-English,” </a:t>
            </a:r>
            <a:r>
              <a:rPr kumimoji="0" lang="en-US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2022. https://arxiv.org/abs/2203.00567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Artetxe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Schwenk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“Massively multilingual sentence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zero-shot cross-lingual transfer,”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TACL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2019.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https://aclanthology.org/Q19-1042.pdf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2" y="1676400"/>
            <a:ext cx="1050645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Gezmu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Nürnberg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MorphoSeg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Morphologically-aware segmentation for Amharic NMT,”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LREC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2022.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https://aclanthology.org/2022.lrec-1.124.pdf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 Belay and Y.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Assabie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“Improving Amharic–English machine translation using homophone normalization,” </a:t>
            </a:r>
            <a:r>
              <a:rPr kumimoji="0" lang="en-US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https://arxiv.org/abs/2302.10934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Kudo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J. Richardson, “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SentencePiece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Language-independent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tokenizer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EMNLP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2018.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https://aclanthology.org/D18-2012.pdf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Hochreiter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“Long short-term memory,”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Computation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1997.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https://www.bioinf.jku.at/publications/older/2604.pdf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Y. Zhang et al., “Character-level representations improve translation for morphologically rich languages,”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ACL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https://aclanthology.org/2020.acl-main.430.pdf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6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550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9" name="TextBox 8"/>
          <p:cNvSpPr txBox="1"/>
          <p:nvPr/>
        </p:nvSpPr>
        <p:spPr>
          <a:xfrm>
            <a:off x="917575" y="1676400"/>
            <a:ext cx="105886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Y. Liu et al., “Multilingual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denoising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pre-training for NMT,”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TACL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https://aclanthology.org/2020.tacl-1.47.pdf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H. Zhou et al., “Understanding dropout in deep learning,” </a:t>
            </a:r>
            <a:r>
              <a:rPr kumimoji="0" lang="en-US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2022.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https://arxiv.org/abs/2205.13055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Variš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Bojar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“EWC for low-resource neural machine translation,” </a:t>
            </a:r>
            <a:r>
              <a:rPr kumimoji="0" lang="en-US" sz="2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https://arxiv.org/abs/2301.00251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T. Wolf et al., “Transformers: State-of-the-art NLP,”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EMNLP Demos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2020.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https://aclanthology.org/2020.emnlp-demos.6.pdf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1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H.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Asefa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Y.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Assabie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“Transformer-based Amharic-to-English MT with character embedding,” </a:t>
            </a:r>
            <a:r>
              <a:rPr kumimoji="0" 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https://ieeexplore.ieee.org/document/10813169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283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554" y="3048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12" name="TextBox 11"/>
          <p:cNvSpPr txBox="1"/>
          <p:nvPr/>
        </p:nvSpPr>
        <p:spPr>
          <a:xfrm>
            <a:off x="1003554" y="1905000"/>
            <a:ext cx="101010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the opportunity to present my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would be happy to answer any questions or provide further details.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429378" y="2743200"/>
            <a:ext cx="7430134" cy="59247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241300" algn="l"/>
              </a:tabLst>
            </a:pPr>
            <a:r>
              <a:rPr lang="en-US" sz="3200" dirty="0" smtClean="0">
                <a:latin typeface="Times New Roman"/>
                <a:cs typeface="Times New Roman"/>
              </a:rPr>
              <a:t>THANK YOU!!!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Words>1576</Words>
  <Application>Microsoft Office PowerPoint</Application>
  <PresentationFormat>Widescreen</PresentationFormat>
  <Paragraphs>292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Wingdings</vt:lpstr>
      <vt:lpstr>Office Theme</vt:lpstr>
      <vt:lpstr>Department of Computer Science and Engineering A Transformer-Based Framework for Domain-Sensitive Amharic–English Neural Machine Translation with Character-Aware Subword Encoding</vt:lpstr>
      <vt:lpstr>OUTLINE</vt:lpstr>
      <vt:lpstr>ABSTRACT</vt:lpstr>
      <vt:lpstr>INTRODUCTION</vt:lpstr>
      <vt:lpstr>PROBLEM STATEMENT</vt:lpstr>
      <vt:lpstr>LITERATURE SURVEY</vt:lpstr>
      <vt:lpstr>LITRATURE SURVEY</vt:lpstr>
      <vt:lpstr>LITERATURE SURVEY</vt:lpstr>
      <vt:lpstr>RESEARCH GAPS</vt:lpstr>
      <vt:lpstr>OBJECTIVES</vt:lpstr>
      <vt:lpstr>METHODOLOGY</vt:lpstr>
      <vt:lpstr>                 FLOW DIAGRAM</vt:lpstr>
      <vt:lpstr>IMPLEMENTATION</vt:lpstr>
      <vt:lpstr>IMPLEMENTATION</vt:lpstr>
      <vt:lpstr>PowerPoint Presentation</vt:lpstr>
      <vt:lpstr>PowerPoint Presentation</vt:lpstr>
      <vt:lpstr>PowerPoint Presentation</vt:lpstr>
      <vt:lpstr>RESULTS &amp; ANALYSIS</vt:lpstr>
      <vt:lpstr>RESULTS &amp; ANALYSIS</vt:lpstr>
      <vt:lpstr>PowerPoint Presentation</vt:lpstr>
      <vt:lpstr>PowerPoint Presentation</vt:lpstr>
      <vt:lpstr>CONCLUSION and FUTURE SCOPE</vt:lpstr>
      <vt:lpstr>REFERENCES</vt:lpstr>
      <vt:lpstr>REFERENCES</vt:lpstr>
      <vt:lpstr>REFERENCES</vt:lpstr>
      <vt:lpstr>QUESTIONS and ANSWERS</vt:lpstr>
      <vt:lpstr>ACKNOWLEGEMENTS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admin</dc:creator>
  <cp:lastModifiedBy>admin</cp:lastModifiedBy>
  <cp:revision>20</cp:revision>
  <dcterms:created xsi:type="dcterms:W3CDTF">2025-11-10T02:37:23Z</dcterms:created>
  <dcterms:modified xsi:type="dcterms:W3CDTF">2025-12-05T06:52:21Z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2025-11-10T00:00:00Z</vt:filetime>
  </property>
</Properties>
</file>